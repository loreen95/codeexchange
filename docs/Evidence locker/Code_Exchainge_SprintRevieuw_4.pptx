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FD010-8A12-431F-B0BC-DD0438574B48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3190D-5B4A-43A0-BCE0-E607FF29C1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27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3190D-5B4A-43A0-BCE0-E607FF29C183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0484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3190D-5B4A-43A0-BCE0-E607FF29C183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7901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02023-BF81-220F-A4C5-6D47F0C67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A47DB84-91E3-85DC-29C6-759723A22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F790068-E6FD-9344-8E93-486C1198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BBE75EE-255E-0E85-4CBD-E465098B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89330A5-0515-8A2E-7A05-C3C9B957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48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D503A-1AA5-F200-3E5C-DE22D8B7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4ECB50-02A5-AAA2-6B56-64A5DE8C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A58FDDF-14E1-33EE-D57F-9BBA2A55D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9A5271B-ADA6-9DBF-31C4-C4E92F4C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B905E84-02EA-C282-4919-2ED66766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653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950ABB-37DC-A555-9963-454CBB2C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85CCF6A-9B41-1CD3-AF1E-B87F30C5B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6E2973-94E0-7C39-5D03-5ADC21DB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8BF19F5-6E68-FF1E-66DA-ED06E972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8E4112-7533-9FE5-98C5-62ADB60D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977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CCEB10-C194-B137-F7F1-588ECCDE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03AA96A-A04F-CD97-CFBA-791646DFA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1B0E94A-0FC6-EC9F-4FB0-11DFC5AAB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10FD86E-CEC8-0A4C-10F2-C039C3C9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03937D2-E50D-3A26-A47C-47F89B3D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0FD889E-2B6E-0D6E-D5A7-33B6AE6D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497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7BE82-6F93-9D27-0E64-9CD95897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F90894-588E-7995-BFC9-145CD8D8A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827D0B3-4703-220C-0DE8-A11A10739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A272DB0-3374-91AB-C1C1-08729ADD0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3D3A5B3-B1EF-15CA-B090-715CA4999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39005B9-B93F-D525-7EF3-16472E624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F7CAD99-0E59-9AAD-7531-80BA8C28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D6A0818-0917-B034-9E7A-BA7890CD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814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DBC19D-569F-A786-8D27-EAB54A73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8E0667C-173A-A4CA-DF71-75F0319F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1D47600-F92B-E390-F883-98669061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9E00C1B-3226-9B11-236B-22AC78C8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995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84D30FD-F867-4AED-78C3-E55A743E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7DA9E86-A47B-CC18-EC6A-02D39BCC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3357C1-C67B-155B-FDA3-C215250C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07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B6DB4-1934-B8EE-86F8-441DD039D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8DCF21-03A0-4AD3-A8A3-C39D70063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EDE6A4C-9DF1-F49C-C0D1-AF6EC2C0E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962C3F0-F5B0-1CC3-6A20-054437CA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0DD1C19-ADE4-4A2B-AB30-2F8EDD51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FBB2773-89E7-7276-5F00-A073E4BC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0110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BEF7B-4295-DE0E-237A-BEC8B154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0633DE0-E731-4CCC-5E52-D9347D8DD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7EEB775-BFB8-75CE-C683-3ECB70FAF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80081E2-887D-3DE0-6DDE-D7FC1A8E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422FDF2-8511-F7B9-8A4F-0FBE63A2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9B259E6-E8D0-A05C-8C40-758B2C6F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422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162B4-E9DD-F68F-8296-918D9F3A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863EB1F-D121-510F-5A17-C379D0E90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00C01D-4D90-FE6A-888D-CC29E699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6037485-DE4C-9D8D-9843-FD1AC7DF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7853AD7-3AF4-DD6D-465B-046887F6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919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74FCA89-3AF6-319A-C5D0-74C70FF67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0C8D61A-068F-D1F2-0F4B-206E4F999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5950BFC-4F0F-E19F-DFAF-20DA5840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7D9AE1B-4159-ECD7-530F-0F257599F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FEB9F7-012C-CC96-2817-D6F52979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175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7FE44A6-0E0B-A812-675E-1DD6F54B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226C074-8738-BB93-37D4-FF7D0434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6BDEC45-673F-4B12-890C-25B9842A2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0FCE-F994-43A1-8FA0-EC6BB507CEFA}" type="datetimeFigureOut">
              <a:rPr lang="nl-NL" smtClean="0"/>
              <a:t>6-12-2024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781227E-EEEC-576F-50A6-AED71A9F8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CD20391-4126-C6A2-780F-A1E45240D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23B55-EC65-46FF-8496-54042F94847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023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jpe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 descr="Afbeelding met zwart-wit, meubels, overdekt, stoel&#10;&#10;Automatisch gegenereerde beschrijving">
            <a:extLst>
              <a:ext uri="{FF2B5EF4-FFF2-40B4-BE49-F238E27FC236}">
                <a16:creationId xmlns:a16="http://schemas.microsoft.com/office/drawing/2014/main" id="{76F01343-90B7-24B4-2BBB-E4320148F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80858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29BC2B20-6A51-48D8-EAE8-CCFE6C0DC6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47" b="8205"/>
          <a:stretch/>
        </p:blipFill>
        <p:spPr>
          <a:xfrm>
            <a:off x="-5544719" y="-2"/>
            <a:ext cx="24094035" cy="110222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0F8CAAE-B89D-6B21-4AB0-9C61950C6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2181" y="2374412"/>
            <a:ext cx="6764210" cy="988497"/>
          </a:xfrm>
        </p:spPr>
        <p:txBody>
          <a:bodyPr>
            <a:normAutofit fontScale="90000"/>
          </a:bodyPr>
          <a:lstStyle/>
          <a:p>
            <a:pPr>
              <a:spcBef>
                <a:spcPts val="1000"/>
              </a:spcBef>
            </a:pPr>
            <a:r>
              <a:rPr lang="nl-NL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Code Exchange</a:t>
            </a:r>
            <a:r>
              <a:rPr lang="nl-NL" sz="5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™</a:t>
            </a:r>
            <a:endParaRPr lang="nl-NL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16A1526-3EF7-D12B-EA26-6E0BD0B1A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92" y="32180"/>
            <a:ext cx="5878885" cy="1076441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20000"/>
              </a:lnSpc>
            </a:pPr>
            <a:r>
              <a:rPr lang="nl-NL" sz="5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Sprint review</a:t>
            </a:r>
            <a:r>
              <a:rPr lang="nl-NL" sz="1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</a:t>
            </a:r>
            <a:b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r>
              <a:rPr lang="nl-NL" sz="20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Duo A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5" name="Afbeelding 4" descr="Afbeelding met Graphics, Kleurrijkheid, cirkel, symbool&#10;&#10;Automatisch gegenereerde beschrijving">
            <a:extLst>
              <a:ext uri="{FF2B5EF4-FFF2-40B4-BE49-F238E27FC236}">
                <a16:creationId xmlns:a16="http://schemas.microsoft.com/office/drawing/2014/main" id="{60C1D405-54A6-EC8D-2390-D38615E8F5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765" y="2232553"/>
            <a:ext cx="1566420" cy="1583263"/>
          </a:xfrm>
          <a:prstGeom prst="rect">
            <a:avLst/>
          </a:prstGeom>
        </p:spPr>
      </p:pic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89463">
            <a:off x="-2558234" y="5432493"/>
            <a:ext cx="7969284" cy="2756536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575964" y="6165273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7875478" y="-2040469"/>
            <a:ext cx="7969284" cy="2756536"/>
          </a:xfrm>
          <a:prstGeom prst="rect">
            <a:avLst/>
          </a:prstGeom>
        </p:spPr>
      </p:pic>
      <p:sp>
        <p:nvSpPr>
          <p:cNvPr id="22" name="Ondertitel 2">
            <a:extLst>
              <a:ext uri="{FF2B5EF4-FFF2-40B4-BE49-F238E27FC236}">
                <a16:creationId xmlns:a16="http://schemas.microsoft.com/office/drawing/2014/main" id="{897576B2-9D07-4008-7921-0BE543CF6200}"/>
              </a:ext>
            </a:extLst>
          </p:cNvPr>
          <p:cNvSpPr txBox="1">
            <a:spLocks/>
          </p:cNvSpPr>
          <p:nvPr/>
        </p:nvSpPr>
        <p:spPr>
          <a:xfrm>
            <a:off x="3836819" y="3206725"/>
            <a:ext cx="5459594" cy="4445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Korte presentatie en live demo</a:t>
            </a:r>
          </a:p>
        </p:txBody>
      </p:sp>
    </p:spTree>
    <p:extLst>
      <p:ext uri="{BB962C8B-B14F-4D97-AF65-F5344CB8AC3E}">
        <p14:creationId xmlns:p14="http://schemas.microsoft.com/office/powerpoint/2010/main" val="3637383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682" y="-877078"/>
            <a:ext cx="14967513" cy="7966437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29BC2B20-6A51-48D8-EAE8-CCFE6C0DC6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47" b="8205"/>
          <a:stretch/>
        </p:blipFill>
        <p:spPr>
          <a:xfrm>
            <a:off x="-5544719" y="-2"/>
            <a:ext cx="24094035" cy="1102223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575964" y="6165273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AD6C949F-5D4C-C2CF-6EFD-41C535BD2B61}"/>
              </a:ext>
            </a:extLst>
          </p:cNvPr>
          <p:cNvSpPr txBox="1">
            <a:spLocks/>
          </p:cNvSpPr>
          <p:nvPr/>
        </p:nvSpPr>
        <p:spPr>
          <a:xfrm>
            <a:off x="74892" y="32180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Inhoudsopgave</a:t>
            </a:r>
            <a:b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9D6D3B-C690-A53A-A009-B0C51483F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433" y="1583301"/>
            <a:ext cx="6917573" cy="3216471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nl-NL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</a:t>
            </a:r>
            <a:r>
              <a:rPr lang="nl-NL" sz="4000" dirty="0">
                <a:solidFill>
                  <a:srgbClr val="C00000"/>
                </a:solidFill>
              </a:rPr>
              <a:t> </a:t>
            </a:r>
            <a:r>
              <a:rPr lang="nl-NL" sz="4000" dirty="0">
                <a:solidFill>
                  <a:schemeClr val="bg2"/>
                </a:solidFill>
              </a:rPr>
              <a:t>Sprint bord Sprint 4</a:t>
            </a:r>
            <a:br>
              <a:rPr lang="nl-NL" sz="4000" dirty="0">
                <a:solidFill>
                  <a:schemeClr val="bg2"/>
                </a:solidFill>
              </a:rPr>
            </a:br>
            <a:r>
              <a:rPr lang="nl-NL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</a:t>
            </a:r>
            <a:r>
              <a:rPr lang="nl-NL" sz="4000" dirty="0">
                <a:solidFill>
                  <a:srgbClr val="C00000"/>
                </a:solidFill>
              </a:rPr>
              <a:t> </a:t>
            </a:r>
            <a:r>
              <a:rPr lang="nl-NL" sz="4000" dirty="0">
                <a:solidFill>
                  <a:schemeClr val="bg2"/>
                </a:solidFill>
              </a:rPr>
              <a:t>TMC-cyclus met resultaat</a:t>
            </a:r>
            <a:br>
              <a:rPr lang="nl-NL" sz="4000" dirty="0">
                <a:solidFill>
                  <a:schemeClr val="bg2"/>
                </a:solidFill>
              </a:rPr>
            </a:br>
            <a:r>
              <a:rPr lang="nl-NL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</a:t>
            </a:r>
            <a:r>
              <a:rPr lang="nl-NL" sz="4000" dirty="0">
                <a:solidFill>
                  <a:srgbClr val="C00000"/>
                </a:solidFill>
              </a:rPr>
              <a:t> </a:t>
            </a:r>
            <a:r>
              <a:rPr lang="nl-NL" sz="4000" dirty="0">
                <a:solidFill>
                  <a:schemeClr val="bg2"/>
                </a:solidFill>
              </a:rPr>
              <a:t>Commit geschiedenis</a:t>
            </a:r>
            <a:br>
              <a:rPr lang="nl-NL" sz="4000" dirty="0">
                <a:solidFill>
                  <a:schemeClr val="bg2"/>
                </a:solidFill>
              </a:rPr>
            </a:br>
            <a:r>
              <a:rPr lang="nl-NL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</a:t>
            </a:r>
            <a:r>
              <a:rPr lang="nl-NL" sz="4000" dirty="0">
                <a:solidFill>
                  <a:srgbClr val="C00000"/>
                </a:solidFill>
              </a:rPr>
              <a:t> </a:t>
            </a:r>
            <a:r>
              <a:rPr lang="nl-NL" sz="4000" dirty="0">
                <a:solidFill>
                  <a:schemeClr val="bg2"/>
                </a:solidFill>
              </a:rPr>
              <a:t>Sprint bord Sprint 5</a:t>
            </a:r>
            <a:br>
              <a:rPr lang="nl-NL" sz="4000" dirty="0">
                <a:solidFill>
                  <a:schemeClr val="bg2"/>
                </a:solidFill>
              </a:rPr>
            </a:br>
            <a:r>
              <a:rPr lang="nl-NL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</a:t>
            </a:r>
            <a:r>
              <a:rPr lang="nl-NL" sz="4000" dirty="0">
                <a:solidFill>
                  <a:srgbClr val="C00000"/>
                </a:solidFill>
              </a:rPr>
              <a:t> </a:t>
            </a:r>
            <a:r>
              <a:rPr lang="nl-NL" sz="4000" dirty="0">
                <a:solidFill>
                  <a:schemeClr val="bg2"/>
                </a:solidFill>
              </a:rPr>
              <a:t>Demo</a:t>
            </a: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2607727" y="5435494"/>
            <a:ext cx="9562820" cy="3307732"/>
          </a:xfrm>
          <a:prstGeom prst="rect">
            <a:avLst/>
          </a:prstGeom>
        </p:spPr>
      </p:pic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7204601" y="-141100"/>
            <a:ext cx="8945982" cy="309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53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9036" y="-33206"/>
            <a:ext cx="13382029" cy="7122565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29BC2B20-6A51-48D8-EAE8-CCFE6C0DC6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47" b="8205"/>
          <a:stretch/>
        </p:blipFill>
        <p:spPr>
          <a:xfrm>
            <a:off x="-5619875" y="-1130358"/>
            <a:ext cx="24094035" cy="1102223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769928" y="7229986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AD6C949F-5D4C-C2CF-6EFD-41C535BD2B61}"/>
              </a:ext>
            </a:extLst>
          </p:cNvPr>
          <p:cNvSpPr txBox="1">
            <a:spLocks/>
          </p:cNvSpPr>
          <p:nvPr/>
        </p:nvSpPr>
        <p:spPr>
          <a:xfrm>
            <a:off x="-264" y="-1098176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TMC-cyclus </a:t>
            </a:r>
            <a:b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4926879" y="7567331"/>
            <a:ext cx="9562820" cy="3307732"/>
          </a:xfrm>
          <a:prstGeom prst="rect">
            <a:avLst/>
          </a:prstGeom>
        </p:spPr>
      </p:pic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9387223" y="-2303749"/>
            <a:ext cx="8945982" cy="3094371"/>
          </a:xfrm>
          <a:prstGeom prst="rect">
            <a:avLst/>
          </a:prstGeom>
        </p:spPr>
      </p:pic>
      <p:sp>
        <p:nvSpPr>
          <p:cNvPr id="2" name="Ondertitel 2">
            <a:extLst>
              <a:ext uri="{FF2B5EF4-FFF2-40B4-BE49-F238E27FC236}">
                <a16:creationId xmlns:a16="http://schemas.microsoft.com/office/drawing/2014/main" id="{A45F46B6-8CE9-394F-2F9A-CA860CE11CB6}"/>
              </a:ext>
            </a:extLst>
          </p:cNvPr>
          <p:cNvSpPr txBox="1">
            <a:spLocks/>
          </p:cNvSpPr>
          <p:nvPr/>
        </p:nvSpPr>
        <p:spPr>
          <a:xfrm>
            <a:off x="953780" y="386568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kern="1200" dirty="0">
                <a:solidFill>
                  <a:srgbClr val="E8E8E8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Sprint bord Sprint 4</a:t>
            </a:r>
            <a:b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3900ED1-4309-B760-7DA1-EA2041FC2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1" name="Afbeelding 10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F902773A-BCBE-BF9B-41D7-4F2EA5A63A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01" y="7740188"/>
            <a:ext cx="3687635" cy="2223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Afbeelding 11" descr="Afbeelding met tekst, schermopname, Lettertype, ontwerp&#10;&#10;Automatisch gegenereerde beschrijving">
            <a:extLst>
              <a:ext uri="{FF2B5EF4-FFF2-40B4-BE49-F238E27FC236}">
                <a16:creationId xmlns:a16="http://schemas.microsoft.com/office/drawing/2014/main" id="{6FCC95D0-CF28-3E89-107C-72ED75E9D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632" y="7714046"/>
            <a:ext cx="2921978" cy="2233334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D7D4F2A-90F0-2E3C-AE4D-0E3E69FD31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207" y="7719384"/>
            <a:ext cx="4352845" cy="2227996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C47C012C-E916-9EAF-58DB-3DC87DDE47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920" y="930171"/>
            <a:ext cx="10455966" cy="550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8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9036" y="-33206"/>
            <a:ext cx="13382029" cy="7122565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769928" y="7229986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5450483" y="5181637"/>
            <a:ext cx="9562820" cy="3307732"/>
          </a:xfrm>
          <a:prstGeom prst="rect">
            <a:avLst/>
          </a:prstGeom>
        </p:spPr>
      </p:pic>
      <p:sp>
        <p:nvSpPr>
          <p:cNvPr id="2" name="Ondertitel 2">
            <a:extLst>
              <a:ext uri="{FF2B5EF4-FFF2-40B4-BE49-F238E27FC236}">
                <a16:creationId xmlns:a16="http://schemas.microsoft.com/office/drawing/2014/main" id="{A45F46B6-8CE9-394F-2F9A-CA860CE11CB6}"/>
              </a:ext>
            </a:extLst>
          </p:cNvPr>
          <p:cNvSpPr txBox="1">
            <a:spLocks/>
          </p:cNvSpPr>
          <p:nvPr/>
        </p:nvSpPr>
        <p:spPr>
          <a:xfrm>
            <a:off x="953780" y="105855"/>
            <a:ext cx="6585355" cy="9358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dirty="0">
                <a:solidFill>
                  <a:srgbClr val="E8E8E8"/>
                </a:solidFill>
                <a:latin typeface="Aptos Display" panose="020B0004020202020204" pitchFamily="34" charset="0"/>
                <a:ea typeface="+mj-ea"/>
                <a:cs typeface="+mj-cs"/>
              </a:rPr>
              <a:t>TMC-cyclus</a:t>
            </a:r>
            <a:r>
              <a:rPr lang="nl-NL" sz="5400" dirty="0">
                <a:solidFill>
                  <a:schemeClr val="bg2"/>
                </a:solidFill>
              </a:rPr>
              <a:t>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3900ED1-4309-B760-7DA1-EA2041FC2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8621" y="7284807"/>
            <a:ext cx="2338643" cy="728996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ada</a:t>
            </a:r>
            <a:endParaRPr lang="nl-NL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97215FB-0417-1681-1A97-5C475BE658DE}"/>
              </a:ext>
            </a:extLst>
          </p:cNvPr>
          <p:cNvSpPr txBox="1"/>
          <p:nvPr/>
        </p:nvSpPr>
        <p:spPr>
          <a:xfrm>
            <a:off x="8120308" y="4970741"/>
            <a:ext cx="4071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400" b="1" dirty="0">
                <a:solidFill>
                  <a:srgbClr val="C00000"/>
                </a:solidFill>
              </a:rPr>
              <a:t>Home</a:t>
            </a:r>
            <a:r>
              <a:rPr lang="nl-NL" sz="3600" b="1" dirty="0">
                <a:solidFill>
                  <a:srgbClr val="C00000"/>
                </a:solidFill>
              </a:rPr>
              <a:t> </a:t>
            </a:r>
            <a:r>
              <a:rPr lang="nl-NL" sz="4400" b="1" dirty="0">
                <a:solidFill>
                  <a:srgbClr val="C00000"/>
                </a:solidFill>
              </a:rPr>
              <a:t>Pagina</a:t>
            </a:r>
            <a:endParaRPr lang="nl-NL" sz="3600" b="1" dirty="0">
              <a:solidFill>
                <a:srgbClr val="C00000"/>
              </a:solidFill>
            </a:endParaRPr>
          </a:p>
        </p:txBody>
      </p:sp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9657588" y="-2105702"/>
            <a:ext cx="8945982" cy="3094371"/>
          </a:xfrm>
          <a:prstGeom prst="rect">
            <a:avLst/>
          </a:prstGeom>
        </p:spPr>
      </p:pic>
      <p:pic>
        <p:nvPicPr>
          <p:cNvPr id="22" name="Afbeelding 21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40A172B8-F90C-D6DC-F3B3-CDB021758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81" y="2418707"/>
            <a:ext cx="3687635" cy="2223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Afbeelding 22" descr="Afbeelding met tekst, schermopname, Lettertype, ontwerp&#10;&#10;Automatisch gegenereerde beschrijving">
            <a:extLst>
              <a:ext uri="{FF2B5EF4-FFF2-40B4-BE49-F238E27FC236}">
                <a16:creationId xmlns:a16="http://schemas.microsoft.com/office/drawing/2014/main" id="{D4677BB3-5A64-DD0B-AB9E-0992DA7A5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785" y="2414078"/>
            <a:ext cx="2921978" cy="2233334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852B0790-6183-BFB7-75AC-B82C85DCA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211" y="2414078"/>
            <a:ext cx="4352845" cy="2227996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11398DD9-5BD3-1E25-8ADD-900D4D3490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2" y="7362418"/>
            <a:ext cx="3646228" cy="2180468"/>
          </a:xfrm>
          <a:prstGeom prst="rect">
            <a:avLst/>
          </a:prstGeom>
        </p:spPr>
      </p:pic>
      <p:pic>
        <p:nvPicPr>
          <p:cNvPr id="28" name="Afbeelding 27">
            <a:extLst>
              <a:ext uri="{FF2B5EF4-FFF2-40B4-BE49-F238E27FC236}">
                <a16:creationId xmlns:a16="http://schemas.microsoft.com/office/drawing/2014/main" id="{E0EDB40A-7733-71EC-B22F-32963E11B0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1680" y="7362418"/>
            <a:ext cx="3126951" cy="2218953"/>
          </a:xfrm>
          <a:prstGeom prst="rect">
            <a:avLst/>
          </a:prstGeom>
        </p:spPr>
      </p:pic>
      <p:pic>
        <p:nvPicPr>
          <p:cNvPr id="30" name="Afbeelding 29">
            <a:extLst>
              <a:ext uri="{FF2B5EF4-FFF2-40B4-BE49-F238E27FC236}">
                <a16:creationId xmlns:a16="http://schemas.microsoft.com/office/drawing/2014/main" id="{7B46AFAA-DE0D-65F3-6211-5D51BE59D7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8631" y="7355218"/>
            <a:ext cx="4806783" cy="2233352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8AF5D1A7-ED3A-07F9-1AAE-B1859EF6BDE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0947" b="8205"/>
          <a:stretch/>
        </p:blipFill>
        <p:spPr>
          <a:xfrm>
            <a:off x="-5458511" y="-34979"/>
            <a:ext cx="24094035" cy="1102223"/>
          </a:xfrm>
          <a:prstGeom prst="rect">
            <a:avLst/>
          </a:prstGeom>
        </p:spPr>
      </p:pic>
      <p:sp>
        <p:nvSpPr>
          <p:cNvPr id="21" name="Ondertitel 2">
            <a:extLst>
              <a:ext uri="{FF2B5EF4-FFF2-40B4-BE49-F238E27FC236}">
                <a16:creationId xmlns:a16="http://schemas.microsoft.com/office/drawing/2014/main" id="{0AA72C14-2557-991E-6276-7ACAAFEBDA47}"/>
              </a:ext>
            </a:extLst>
          </p:cNvPr>
          <p:cNvSpPr txBox="1">
            <a:spLocks/>
          </p:cNvSpPr>
          <p:nvPr/>
        </p:nvSpPr>
        <p:spPr>
          <a:xfrm>
            <a:off x="61478" y="61116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TMC-cyclus </a:t>
            </a:r>
            <a:b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31" name="Afbeelding 30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095B2CFC-D8F7-FBD2-077B-A67DCC743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31239">
            <a:off x="9874312" y="6782327"/>
            <a:ext cx="9562820" cy="330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4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9036" y="-33206"/>
            <a:ext cx="13382029" cy="7122565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769928" y="7229986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6802845" y="6532645"/>
            <a:ext cx="9562820" cy="3307732"/>
          </a:xfrm>
          <a:prstGeom prst="rect">
            <a:avLst/>
          </a:prstGeom>
        </p:spPr>
      </p:pic>
      <p:sp>
        <p:nvSpPr>
          <p:cNvPr id="2" name="Ondertitel 2">
            <a:extLst>
              <a:ext uri="{FF2B5EF4-FFF2-40B4-BE49-F238E27FC236}">
                <a16:creationId xmlns:a16="http://schemas.microsoft.com/office/drawing/2014/main" id="{A45F46B6-8CE9-394F-2F9A-CA860CE11CB6}"/>
              </a:ext>
            </a:extLst>
          </p:cNvPr>
          <p:cNvSpPr txBox="1">
            <a:spLocks/>
          </p:cNvSpPr>
          <p:nvPr/>
        </p:nvSpPr>
        <p:spPr>
          <a:xfrm>
            <a:off x="953780" y="105855"/>
            <a:ext cx="6585355" cy="9358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dirty="0">
                <a:solidFill>
                  <a:srgbClr val="E8E8E8"/>
                </a:solidFill>
                <a:latin typeface="Aptos Display" panose="020B0004020202020204" pitchFamily="34" charset="0"/>
                <a:ea typeface="+mj-ea"/>
                <a:cs typeface="+mj-cs"/>
              </a:rPr>
              <a:t>TMC-cyclus</a:t>
            </a:r>
            <a:r>
              <a:rPr lang="nl-NL" sz="5400" dirty="0">
                <a:solidFill>
                  <a:schemeClr val="bg2"/>
                </a:solidFill>
              </a:rPr>
              <a:t>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3900ED1-4309-B760-7DA1-EA2041FC2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8621" y="7284807"/>
            <a:ext cx="2338643" cy="728996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ada</a:t>
            </a:r>
            <a:endParaRPr lang="nl-NL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97215FB-0417-1681-1A97-5C475BE658DE}"/>
              </a:ext>
            </a:extLst>
          </p:cNvPr>
          <p:cNvSpPr txBox="1"/>
          <p:nvPr/>
        </p:nvSpPr>
        <p:spPr>
          <a:xfrm>
            <a:off x="166120" y="4907933"/>
            <a:ext cx="4071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400" b="1" dirty="0">
                <a:solidFill>
                  <a:srgbClr val="C00000"/>
                </a:solidFill>
              </a:rPr>
              <a:t>Profiel</a:t>
            </a:r>
            <a:r>
              <a:rPr lang="nl-NL" sz="3600" b="1" dirty="0">
                <a:solidFill>
                  <a:srgbClr val="C00000"/>
                </a:solidFill>
              </a:rPr>
              <a:t> </a:t>
            </a:r>
            <a:r>
              <a:rPr lang="nl-NL" sz="4400" b="1" dirty="0">
                <a:solidFill>
                  <a:srgbClr val="C00000"/>
                </a:solidFill>
              </a:rPr>
              <a:t>Pagina</a:t>
            </a:r>
            <a:endParaRPr lang="nl-NL" sz="3600" b="1" dirty="0">
              <a:solidFill>
                <a:srgbClr val="C00000"/>
              </a:solidFill>
            </a:endParaRPr>
          </a:p>
        </p:txBody>
      </p:sp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9657588" y="-2105702"/>
            <a:ext cx="8945982" cy="3094371"/>
          </a:xfrm>
          <a:prstGeom prst="rect">
            <a:avLst/>
          </a:prstGeom>
        </p:spPr>
      </p:pic>
      <p:pic>
        <p:nvPicPr>
          <p:cNvPr id="22" name="Afbeelding 21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40A172B8-F90C-D6DC-F3B3-CDB021758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08" y="-2460781"/>
            <a:ext cx="3687635" cy="2223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Afbeelding 22" descr="Afbeelding met tekst, schermopname, Lettertype, ontwerp&#10;&#10;Automatisch gegenereerde beschrijving">
            <a:extLst>
              <a:ext uri="{FF2B5EF4-FFF2-40B4-BE49-F238E27FC236}">
                <a16:creationId xmlns:a16="http://schemas.microsoft.com/office/drawing/2014/main" id="{D4677BB3-5A64-DD0B-AB9E-0992DA7A5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7812" y="-2465410"/>
            <a:ext cx="2921978" cy="2233334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852B0790-6183-BFB7-75AC-B82C85DCA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238" y="-2465410"/>
            <a:ext cx="4352845" cy="2227996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D487A4C-0C11-DF24-9A3A-2A93E56C68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121" y="2600423"/>
            <a:ext cx="3646228" cy="2180468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7911263-F2F6-DC39-23FB-21AF8A58F9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8597" y="2600423"/>
            <a:ext cx="3126951" cy="221895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22D08D1-3039-3E6D-6559-9B51735744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4796" y="2593223"/>
            <a:ext cx="4806783" cy="2233352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8AF5D1A7-ED3A-07F9-1AAE-B1859EF6BDE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0947" b="8205"/>
          <a:stretch/>
        </p:blipFill>
        <p:spPr>
          <a:xfrm>
            <a:off x="-5458511" y="-34979"/>
            <a:ext cx="24094035" cy="1102223"/>
          </a:xfrm>
          <a:prstGeom prst="rect">
            <a:avLst/>
          </a:prstGeom>
        </p:spPr>
      </p:pic>
      <p:sp>
        <p:nvSpPr>
          <p:cNvPr id="21" name="Ondertitel 2">
            <a:extLst>
              <a:ext uri="{FF2B5EF4-FFF2-40B4-BE49-F238E27FC236}">
                <a16:creationId xmlns:a16="http://schemas.microsoft.com/office/drawing/2014/main" id="{0AA72C14-2557-991E-6276-7ACAAFEBDA47}"/>
              </a:ext>
            </a:extLst>
          </p:cNvPr>
          <p:cNvSpPr txBox="1">
            <a:spLocks/>
          </p:cNvSpPr>
          <p:nvPr/>
        </p:nvSpPr>
        <p:spPr>
          <a:xfrm>
            <a:off x="61478" y="61116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TMC-cyclus </a:t>
            </a:r>
            <a:b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36B3E3F-530C-4B29-6404-D9BB5A8725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8959" y="7235620"/>
            <a:ext cx="3646228" cy="2192582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0BACF19-E98F-190C-6AE2-A477300A10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5188" y="7228421"/>
            <a:ext cx="2824408" cy="2195670"/>
          </a:xfrm>
          <a:prstGeom prst="rect">
            <a:avLst/>
          </a:prstGeom>
        </p:spPr>
      </p:pic>
      <p:pic>
        <p:nvPicPr>
          <p:cNvPr id="1026" name="Picture 2" descr="Work in Progress Warning Sign with Dark Yellow Orange and Black Stripes  Stock Image - Image of safety, enter: 107813403">
            <a:extLst>
              <a:ext uri="{FF2B5EF4-FFF2-40B4-BE49-F238E27FC236}">
                <a16:creationId xmlns:a16="http://schemas.microsoft.com/office/drawing/2014/main" id="{9A07135E-E02A-0B49-E416-10345DE35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596" y="7228420"/>
            <a:ext cx="3286124" cy="219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0DD3AA0A-2345-2A6A-AD3A-44951A86B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31239">
            <a:off x="7968860" y="5204134"/>
            <a:ext cx="9562820" cy="330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3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9036" y="-33206"/>
            <a:ext cx="13382029" cy="7122565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769928" y="7229986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5454662" y="5204134"/>
            <a:ext cx="9562820" cy="3307732"/>
          </a:xfrm>
          <a:prstGeom prst="rect">
            <a:avLst/>
          </a:prstGeom>
        </p:spPr>
      </p:pic>
      <p:sp>
        <p:nvSpPr>
          <p:cNvPr id="2" name="Ondertitel 2">
            <a:extLst>
              <a:ext uri="{FF2B5EF4-FFF2-40B4-BE49-F238E27FC236}">
                <a16:creationId xmlns:a16="http://schemas.microsoft.com/office/drawing/2014/main" id="{A45F46B6-8CE9-394F-2F9A-CA860CE11CB6}"/>
              </a:ext>
            </a:extLst>
          </p:cNvPr>
          <p:cNvSpPr txBox="1">
            <a:spLocks/>
          </p:cNvSpPr>
          <p:nvPr/>
        </p:nvSpPr>
        <p:spPr>
          <a:xfrm>
            <a:off x="953780" y="105855"/>
            <a:ext cx="6585355" cy="9358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dirty="0">
                <a:solidFill>
                  <a:srgbClr val="E8E8E8"/>
                </a:solidFill>
                <a:latin typeface="Aptos Display" panose="020B0004020202020204" pitchFamily="34" charset="0"/>
                <a:ea typeface="+mj-ea"/>
                <a:cs typeface="+mj-cs"/>
              </a:rPr>
              <a:t>TMC-cyclus</a:t>
            </a:r>
            <a:r>
              <a:rPr lang="nl-NL" sz="5400" dirty="0">
                <a:solidFill>
                  <a:schemeClr val="bg2"/>
                </a:solidFill>
              </a:rPr>
              <a:t>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3900ED1-4309-B760-7DA1-EA2041FC2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8621" y="7284807"/>
            <a:ext cx="2338643" cy="728996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ada</a:t>
            </a:r>
            <a:endParaRPr lang="nl-NL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97215FB-0417-1681-1A97-5C475BE658DE}"/>
              </a:ext>
            </a:extLst>
          </p:cNvPr>
          <p:cNvSpPr txBox="1"/>
          <p:nvPr/>
        </p:nvSpPr>
        <p:spPr>
          <a:xfrm>
            <a:off x="8059887" y="4826575"/>
            <a:ext cx="4071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600" b="1" dirty="0">
                <a:solidFill>
                  <a:srgbClr val="C00000"/>
                </a:solidFill>
              </a:rPr>
              <a:t>Profiel wijzigen</a:t>
            </a:r>
            <a:endParaRPr lang="nl-NL" sz="2800" b="1" dirty="0">
              <a:solidFill>
                <a:srgbClr val="C00000"/>
              </a:solidFill>
            </a:endParaRPr>
          </a:p>
        </p:txBody>
      </p:sp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9657588" y="-2105702"/>
            <a:ext cx="8945982" cy="309437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D487A4C-0C11-DF24-9A3A-2A93E56C6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42" y="-2496964"/>
            <a:ext cx="3646228" cy="2180468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7911263-F2F6-DC39-23FB-21AF8A58F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018" y="-2496964"/>
            <a:ext cx="3126951" cy="221895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22D08D1-3039-3E6D-6559-9B5173574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5217" y="-2504164"/>
            <a:ext cx="4806783" cy="2233352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E049C35-ADCC-5264-F15E-F2D74F4BAB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17" y="2294247"/>
            <a:ext cx="4211218" cy="2532327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3A109F47-0DA8-28A1-3CA7-E8C75D0C43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187" y="2272341"/>
            <a:ext cx="3285647" cy="2554233"/>
          </a:xfrm>
          <a:prstGeom prst="rect">
            <a:avLst/>
          </a:prstGeom>
        </p:spPr>
      </p:pic>
      <p:pic>
        <p:nvPicPr>
          <p:cNvPr id="18" name="Picture 2" descr="Work in Progress Warning Sign with Dark Yellow Orange and Black Stripes  Stock Image - Image of safety, enter: 107813403">
            <a:extLst>
              <a:ext uri="{FF2B5EF4-FFF2-40B4-BE49-F238E27FC236}">
                <a16:creationId xmlns:a16="http://schemas.microsoft.com/office/drawing/2014/main" id="{EE50DDE1-8B12-7EA9-683E-BFFF09DDF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442" y="2299234"/>
            <a:ext cx="3786275" cy="252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8AF5D1A7-ED3A-07F9-1AAE-B1859EF6BDE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0947" b="8205"/>
          <a:stretch/>
        </p:blipFill>
        <p:spPr>
          <a:xfrm>
            <a:off x="-5458511" y="-34979"/>
            <a:ext cx="24094035" cy="1102223"/>
          </a:xfrm>
          <a:prstGeom prst="rect">
            <a:avLst/>
          </a:prstGeom>
        </p:spPr>
      </p:pic>
      <p:sp>
        <p:nvSpPr>
          <p:cNvPr id="21" name="Ondertitel 2">
            <a:extLst>
              <a:ext uri="{FF2B5EF4-FFF2-40B4-BE49-F238E27FC236}">
                <a16:creationId xmlns:a16="http://schemas.microsoft.com/office/drawing/2014/main" id="{0AA72C14-2557-991E-6276-7ACAAFEBDA47}"/>
              </a:ext>
            </a:extLst>
          </p:cNvPr>
          <p:cNvSpPr txBox="1">
            <a:spLocks/>
          </p:cNvSpPr>
          <p:nvPr/>
        </p:nvSpPr>
        <p:spPr>
          <a:xfrm>
            <a:off x="61478" y="61116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TMC-cyclus </a:t>
            </a:r>
            <a:b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27" name="Afbeelding 26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32E51DDE-DA86-94F7-16CF-1D71497C0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31239">
            <a:off x="9349169" y="6667483"/>
            <a:ext cx="9562820" cy="330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91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9036" y="-33206"/>
            <a:ext cx="13382029" cy="7122565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769928" y="7229986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E049C35-ADCC-5264-F15E-F2D74F4BA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87" y="-2358244"/>
            <a:ext cx="3646228" cy="2192582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3A109F47-0DA8-28A1-3CA7-E8C75D0C4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655" y="-2380151"/>
            <a:ext cx="2824408" cy="2195670"/>
          </a:xfrm>
          <a:prstGeom prst="rect">
            <a:avLst/>
          </a:prstGeom>
        </p:spPr>
      </p:pic>
      <p:pic>
        <p:nvPicPr>
          <p:cNvPr id="18" name="Picture 2" descr="Work in Progress Warning Sign with Dark Yellow Orange and Black Stripes  Stock Image - Image of safety, enter: 107813403">
            <a:extLst>
              <a:ext uri="{FF2B5EF4-FFF2-40B4-BE49-F238E27FC236}">
                <a16:creationId xmlns:a16="http://schemas.microsoft.com/office/drawing/2014/main" id="{EE50DDE1-8B12-7EA9-683E-BFFF09DDF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923" y="-2353257"/>
            <a:ext cx="3286124" cy="219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8AF5D1A7-ED3A-07F9-1AAE-B1859EF6BD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947" b="8205"/>
          <a:stretch/>
        </p:blipFill>
        <p:spPr>
          <a:xfrm>
            <a:off x="-5561065" y="-1184194"/>
            <a:ext cx="24094035" cy="1102223"/>
          </a:xfrm>
          <a:prstGeom prst="rect">
            <a:avLst/>
          </a:prstGeom>
        </p:spPr>
      </p:pic>
      <p:sp>
        <p:nvSpPr>
          <p:cNvPr id="21" name="Ondertitel 2">
            <a:extLst>
              <a:ext uri="{FF2B5EF4-FFF2-40B4-BE49-F238E27FC236}">
                <a16:creationId xmlns:a16="http://schemas.microsoft.com/office/drawing/2014/main" id="{0AA72C14-2557-991E-6276-7ACAAFEBDA47}"/>
              </a:ext>
            </a:extLst>
          </p:cNvPr>
          <p:cNvSpPr txBox="1">
            <a:spLocks/>
          </p:cNvSpPr>
          <p:nvPr/>
        </p:nvSpPr>
        <p:spPr>
          <a:xfrm>
            <a:off x="-41076" y="-1088099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TMC-cyclus </a:t>
            </a:r>
            <a:br>
              <a:rPr lang="nl-NL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2C16557-0094-6555-4F5C-5D96E74CEA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80" y="1003401"/>
            <a:ext cx="10584546" cy="5148685"/>
          </a:xfrm>
          <a:prstGeom prst="rect">
            <a:avLst/>
          </a:prstGeom>
        </p:spPr>
      </p:pic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6804364" y="6725007"/>
            <a:ext cx="9562820" cy="3307732"/>
          </a:xfrm>
          <a:prstGeom prst="rect">
            <a:avLst/>
          </a:prstGeom>
        </p:spPr>
      </p:pic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10331667" y="-2097066"/>
            <a:ext cx="8945982" cy="3094371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1A1917AE-ADD9-15B2-1648-7456317A02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9" name="Ondertitel 2">
            <a:extLst>
              <a:ext uri="{FF2B5EF4-FFF2-40B4-BE49-F238E27FC236}">
                <a16:creationId xmlns:a16="http://schemas.microsoft.com/office/drawing/2014/main" id="{C4C21263-B778-1DF4-CC0B-601348757F44}"/>
              </a:ext>
            </a:extLst>
          </p:cNvPr>
          <p:cNvSpPr txBox="1">
            <a:spLocks/>
          </p:cNvSpPr>
          <p:nvPr/>
        </p:nvSpPr>
        <p:spPr>
          <a:xfrm>
            <a:off x="953780" y="386568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kern="1200" dirty="0">
                <a:solidFill>
                  <a:srgbClr val="E8E8E8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Commit geschiedenis </a:t>
            </a:r>
            <a:b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24" name="Ondertitel 2">
            <a:extLst>
              <a:ext uri="{FF2B5EF4-FFF2-40B4-BE49-F238E27FC236}">
                <a16:creationId xmlns:a16="http://schemas.microsoft.com/office/drawing/2014/main" id="{AAC1C403-C46C-2C78-EC6D-2D0F34A9BA9A}"/>
              </a:ext>
            </a:extLst>
          </p:cNvPr>
          <p:cNvSpPr txBox="1">
            <a:spLocks/>
          </p:cNvSpPr>
          <p:nvPr/>
        </p:nvSpPr>
        <p:spPr>
          <a:xfrm>
            <a:off x="-11830730" y="649966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kern="1200" dirty="0">
                <a:solidFill>
                  <a:srgbClr val="E8E8E8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Sprintbord sprint 5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E6146A8-1D29-FB60-E9BE-F7772EFFED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1180816" y="1215165"/>
            <a:ext cx="10349795" cy="548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47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9036" y="-33206"/>
            <a:ext cx="13382029" cy="7122565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769928" y="7229986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6804364" y="6725007"/>
            <a:ext cx="9562820" cy="3307732"/>
          </a:xfrm>
          <a:prstGeom prst="rect">
            <a:avLst/>
          </a:prstGeom>
        </p:spPr>
      </p:pic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10331667" y="-2097066"/>
            <a:ext cx="8945982" cy="3094371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1A1917AE-ADD9-15B2-1648-7456317A02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9" name="Ondertitel 2">
            <a:extLst>
              <a:ext uri="{FF2B5EF4-FFF2-40B4-BE49-F238E27FC236}">
                <a16:creationId xmlns:a16="http://schemas.microsoft.com/office/drawing/2014/main" id="{C4C21263-B778-1DF4-CC0B-601348757F44}"/>
              </a:ext>
            </a:extLst>
          </p:cNvPr>
          <p:cNvSpPr txBox="1">
            <a:spLocks/>
          </p:cNvSpPr>
          <p:nvPr/>
        </p:nvSpPr>
        <p:spPr>
          <a:xfrm>
            <a:off x="953780" y="386568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kern="1200" dirty="0">
                <a:solidFill>
                  <a:srgbClr val="E8E8E8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Sprintbord sprint 5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6F3378A-4B24-BD64-2CD7-6878D2415D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47" b="8205"/>
          <a:stretch/>
        </p:blipFill>
        <p:spPr>
          <a:xfrm>
            <a:off x="-5561066" y="-1165159"/>
            <a:ext cx="24094035" cy="1102223"/>
          </a:xfrm>
          <a:prstGeom prst="rect">
            <a:avLst/>
          </a:prstGeom>
        </p:spPr>
      </p:pic>
      <p:sp>
        <p:nvSpPr>
          <p:cNvPr id="6" name="Ondertitel 2">
            <a:extLst>
              <a:ext uri="{FF2B5EF4-FFF2-40B4-BE49-F238E27FC236}">
                <a16:creationId xmlns:a16="http://schemas.microsoft.com/office/drawing/2014/main" id="{CFB8B368-AAD0-E29F-B703-72FBE6288C0C}"/>
              </a:ext>
            </a:extLst>
          </p:cNvPr>
          <p:cNvSpPr txBox="1">
            <a:spLocks/>
          </p:cNvSpPr>
          <p:nvPr/>
        </p:nvSpPr>
        <p:spPr>
          <a:xfrm>
            <a:off x="118786" y="-1008752"/>
            <a:ext cx="7863999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9600" b="1" dirty="0">
                <a:solidFill>
                  <a:schemeClr val="bg2"/>
                </a:solidFill>
              </a:rPr>
              <a:t>Minimaal Levensvatbaar Product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ACC1473-42A4-3754-366D-FAC6F6CB4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1695" y="1167510"/>
            <a:ext cx="10584546" cy="5148685"/>
          </a:xfrm>
          <a:prstGeom prst="rect">
            <a:avLst/>
          </a:prstGeom>
        </p:spPr>
      </p:pic>
      <p:sp>
        <p:nvSpPr>
          <p:cNvPr id="8" name="Ondertitel 2">
            <a:extLst>
              <a:ext uri="{FF2B5EF4-FFF2-40B4-BE49-F238E27FC236}">
                <a16:creationId xmlns:a16="http://schemas.microsoft.com/office/drawing/2014/main" id="{501D212A-A937-09D0-75F7-17BDF21C00DC}"/>
              </a:ext>
            </a:extLst>
          </p:cNvPr>
          <p:cNvSpPr txBox="1">
            <a:spLocks/>
          </p:cNvSpPr>
          <p:nvPr/>
        </p:nvSpPr>
        <p:spPr>
          <a:xfrm>
            <a:off x="12681695" y="550677"/>
            <a:ext cx="5878885" cy="107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2800" b="1" kern="1200" dirty="0">
                <a:solidFill>
                  <a:srgbClr val="E8E8E8"/>
                </a:solidFill>
                <a:effectLst/>
                <a:latin typeface="Aptos Display" panose="020B0004020202020204" pitchFamily="34" charset="0"/>
                <a:ea typeface="+mj-ea"/>
                <a:cs typeface="+mj-cs"/>
              </a:rPr>
              <a:t>Commit geschiedenis </a:t>
            </a:r>
            <a:b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</a:br>
            <a:r>
              <a:rPr lang="nl-NL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      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935E35C-4240-A93D-4B5C-100C1623F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306" y="999569"/>
            <a:ext cx="10349795" cy="548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46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zwart-wit, meubels, overdekt, stoel&#10;&#10;Automatisch gegenereerde beschrijving">
            <a:extLst>
              <a:ext uri="{FF2B5EF4-FFF2-40B4-BE49-F238E27FC236}">
                <a16:creationId xmlns:a16="http://schemas.microsoft.com/office/drawing/2014/main" id="{166CF43D-9A2F-9A67-5161-2A7A23E84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80858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9036" y="-33206"/>
            <a:ext cx="13382029" cy="7122565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769928" y="6189509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4083568" y="4777673"/>
            <a:ext cx="9562820" cy="3307732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1A1917AE-ADD9-15B2-1648-7456317A0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2574" y="2216014"/>
            <a:ext cx="5723466" cy="933356"/>
          </a:xfrm>
        </p:spPr>
        <p:txBody>
          <a:bodyPr>
            <a:normAutofit fontScale="90000"/>
          </a:bodyPr>
          <a:lstStyle/>
          <a:p>
            <a:pPr algn="l"/>
            <a:br>
              <a:rPr lang="nl-NL" b="1" dirty="0">
                <a:solidFill>
                  <a:schemeClr val="bg2"/>
                </a:solidFill>
              </a:rPr>
            </a:br>
            <a:r>
              <a:rPr lang="nl-NL" b="1" dirty="0">
                <a:solidFill>
                  <a:schemeClr val="bg2"/>
                </a:solidFill>
              </a:rPr>
              <a:t>Live demonstratie</a:t>
            </a:r>
          </a:p>
        </p:txBody>
      </p:sp>
      <p:pic>
        <p:nvPicPr>
          <p:cNvPr id="11" name="Afbeelding 10" descr="Afbeelding met Graphics, Kleurrijkheid, cirkel, symbool&#10;&#10;Automatisch gegenereerde beschrijving">
            <a:extLst>
              <a:ext uri="{FF2B5EF4-FFF2-40B4-BE49-F238E27FC236}">
                <a16:creationId xmlns:a16="http://schemas.microsoft.com/office/drawing/2014/main" id="{5044FAAC-0D95-8878-ED1E-D06E0A06BA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579" y="2216014"/>
            <a:ext cx="1566420" cy="1583263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64D0C99D-32F0-1078-9FFD-9F1E07CB2FC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947" b="8205"/>
          <a:stretch/>
        </p:blipFill>
        <p:spPr>
          <a:xfrm>
            <a:off x="-5611866" y="0"/>
            <a:ext cx="24094035" cy="1102223"/>
          </a:xfrm>
          <a:prstGeom prst="rect">
            <a:avLst/>
          </a:prstGeom>
        </p:spPr>
      </p:pic>
      <p:sp>
        <p:nvSpPr>
          <p:cNvPr id="22" name="Ondertitel 2">
            <a:extLst>
              <a:ext uri="{FF2B5EF4-FFF2-40B4-BE49-F238E27FC236}">
                <a16:creationId xmlns:a16="http://schemas.microsoft.com/office/drawing/2014/main" id="{654ACD0B-1A12-AEA6-9A36-1F496A8385D8}"/>
              </a:ext>
            </a:extLst>
          </p:cNvPr>
          <p:cNvSpPr txBox="1">
            <a:spLocks/>
          </p:cNvSpPr>
          <p:nvPr/>
        </p:nvSpPr>
        <p:spPr>
          <a:xfrm>
            <a:off x="67986" y="156407"/>
            <a:ext cx="7863999" cy="107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9600" b="1" dirty="0">
                <a:solidFill>
                  <a:schemeClr val="bg2"/>
                </a:solidFill>
              </a:rPr>
              <a:t>Minimaal Levensvatbaar Product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9044757" y="-918287"/>
            <a:ext cx="8945982" cy="3094371"/>
          </a:xfrm>
          <a:prstGeom prst="rect">
            <a:avLst/>
          </a:prstGeom>
        </p:spPr>
      </p:pic>
      <p:sp>
        <p:nvSpPr>
          <p:cNvPr id="25" name="Ondertitel 2">
            <a:extLst>
              <a:ext uri="{FF2B5EF4-FFF2-40B4-BE49-F238E27FC236}">
                <a16:creationId xmlns:a16="http://schemas.microsoft.com/office/drawing/2014/main" id="{E7197E97-4B9B-A761-2B69-B89CEE294294}"/>
              </a:ext>
            </a:extLst>
          </p:cNvPr>
          <p:cNvSpPr txBox="1">
            <a:spLocks/>
          </p:cNvSpPr>
          <p:nvPr/>
        </p:nvSpPr>
        <p:spPr>
          <a:xfrm>
            <a:off x="2310310" y="3182576"/>
            <a:ext cx="5459594" cy="4445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Feedback</a:t>
            </a:r>
          </a:p>
        </p:txBody>
      </p:sp>
      <p:sp>
        <p:nvSpPr>
          <p:cNvPr id="26" name="Titel 5">
            <a:extLst>
              <a:ext uri="{FF2B5EF4-FFF2-40B4-BE49-F238E27FC236}">
                <a16:creationId xmlns:a16="http://schemas.microsoft.com/office/drawing/2014/main" id="{6E7E50D2-1E2D-B813-9C8F-C0AEF565040B}"/>
              </a:ext>
            </a:extLst>
          </p:cNvPr>
          <p:cNvSpPr txBox="1">
            <a:spLocks/>
          </p:cNvSpPr>
          <p:nvPr/>
        </p:nvSpPr>
        <p:spPr>
          <a:xfrm>
            <a:off x="10216024" y="14983115"/>
            <a:ext cx="9144000" cy="7463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nl-NL" dirty="0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DAB7DAF6-91D2-105C-F0F4-1F058C180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3374" y="7460827"/>
            <a:ext cx="626533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Hallo allemaal! </a:t>
            </a:r>
            <a:r>
              <a:rPr kumimoji="0" lang="ja-JP" altLang="nl-N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ヾ</a:t>
            </a:r>
            <a:r>
              <a:rPr kumimoji="0" lang="nl-NL" altLang="ja-J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ja-JP" altLang="nl-N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＾ ∇ ＾</a:t>
            </a:r>
            <a:r>
              <a:rPr kumimoji="0" lang="nl-NL" altLang="ja-J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).</a:t>
            </a:r>
            <a:endParaRPr kumimoji="0" lang="nl-NL" altLang="nl-NL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036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zwart-wit, meubels, overdekt, stoel&#10;&#10;Automatisch gegenereerde beschrijving">
            <a:extLst>
              <a:ext uri="{FF2B5EF4-FFF2-40B4-BE49-F238E27FC236}">
                <a16:creationId xmlns:a16="http://schemas.microsoft.com/office/drawing/2014/main" id="{166CF43D-9A2F-9A67-5161-2A7A23E84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80858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77FA6356-F581-934B-CE4C-3A39A8E74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34" y="366670"/>
            <a:ext cx="11099138" cy="6168837"/>
          </a:xfrm>
          <a:prstGeom prst="rect">
            <a:avLst/>
          </a:prstGeom>
        </p:spPr>
      </p:pic>
      <p:sp>
        <p:nvSpPr>
          <p:cNvPr id="17" name="Ondertitel 2">
            <a:extLst>
              <a:ext uri="{FF2B5EF4-FFF2-40B4-BE49-F238E27FC236}">
                <a16:creationId xmlns:a16="http://schemas.microsoft.com/office/drawing/2014/main" id="{1E86561C-C4E7-C287-E445-A7EABC7CA7E5}"/>
              </a:ext>
            </a:extLst>
          </p:cNvPr>
          <p:cNvSpPr txBox="1">
            <a:spLocks/>
          </p:cNvSpPr>
          <p:nvPr/>
        </p:nvSpPr>
        <p:spPr>
          <a:xfrm>
            <a:off x="8303600" y="5883418"/>
            <a:ext cx="3422072" cy="484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Exchange </a:t>
            </a:r>
            <a:r>
              <a:rPr lang="en-US" sz="1100" kern="1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+mn-ea"/>
                <a:cs typeface="+mn-cs"/>
              </a:rPr>
              <a:t>©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 copyright 1643-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Burnout Alliance </a:t>
            </a:r>
            <a:r>
              <a:rPr lang="nl-NL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™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rights reserved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8AF5D1A7-ED3A-07F9-1AAE-B1859EF6BD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47" b="8205"/>
          <a:stretch/>
        </p:blipFill>
        <p:spPr>
          <a:xfrm>
            <a:off x="-5544132" y="-1102223"/>
            <a:ext cx="24094035" cy="1102223"/>
          </a:xfrm>
          <a:prstGeom prst="rect">
            <a:avLst/>
          </a:prstGeom>
        </p:spPr>
      </p:pic>
      <p:sp>
        <p:nvSpPr>
          <p:cNvPr id="21" name="Ondertitel 2">
            <a:extLst>
              <a:ext uri="{FF2B5EF4-FFF2-40B4-BE49-F238E27FC236}">
                <a16:creationId xmlns:a16="http://schemas.microsoft.com/office/drawing/2014/main" id="{0AA72C14-2557-991E-6276-7ACAAFEBDA47}"/>
              </a:ext>
            </a:extLst>
          </p:cNvPr>
          <p:cNvSpPr txBox="1">
            <a:spLocks/>
          </p:cNvSpPr>
          <p:nvPr/>
        </p:nvSpPr>
        <p:spPr>
          <a:xfrm>
            <a:off x="0" y="-886773"/>
            <a:ext cx="7863999" cy="671322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l-NL" sz="9600" b="1" dirty="0">
                <a:solidFill>
                  <a:schemeClr val="bg2"/>
                </a:solidFill>
              </a:rPr>
              <a:t>Minimaal Levensvatbaar Product</a:t>
            </a:r>
            <a:endParaRPr lang="nl-NL" sz="54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pic>
        <p:nvPicPr>
          <p:cNvPr id="9" name="Afbeelding 8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FC7A8F8E-2D9E-AD01-F96E-7A9762DB0C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10155">
            <a:off x="-4702429" y="3988214"/>
            <a:ext cx="10958257" cy="3790407"/>
          </a:xfrm>
          <a:prstGeom prst="rect">
            <a:avLst/>
          </a:prstGeom>
        </p:spPr>
      </p:pic>
      <p:pic>
        <p:nvPicPr>
          <p:cNvPr id="4" name="Afbeelding 3" descr="Afbeelding met schermopname, rood, Kastanjebruin, ontwerp&#10;&#10;Automatisch gegenereerde beschrijving">
            <a:extLst>
              <a:ext uri="{FF2B5EF4-FFF2-40B4-BE49-F238E27FC236}">
                <a16:creationId xmlns:a16="http://schemas.microsoft.com/office/drawing/2014/main" id="{B923EDBB-C669-7ABE-841C-A7034DFD3D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237369">
            <a:off x="7284333" y="-200494"/>
            <a:ext cx="8945982" cy="3094371"/>
          </a:xfrm>
          <a:prstGeom prst="rect">
            <a:avLst/>
          </a:prstGeom>
        </p:spPr>
      </p:pic>
      <p:pic>
        <p:nvPicPr>
          <p:cNvPr id="2" name="Afbeelding 1" descr="Afbeelding met Graphics, Kleurrijkheid, cirkel, symbool&#10;&#10;Automatisch gegenereerde beschrijving">
            <a:extLst>
              <a:ext uri="{FF2B5EF4-FFF2-40B4-BE49-F238E27FC236}">
                <a16:creationId xmlns:a16="http://schemas.microsoft.com/office/drawing/2014/main" id="{15515275-E1A5-E7C9-69EF-4EE92E32CC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19" y="2328538"/>
            <a:ext cx="1566420" cy="1583263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4287831C-1903-3B75-A0AF-D7FDBD119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9890" y="7440482"/>
            <a:ext cx="9144000" cy="746301"/>
          </a:xfrm>
        </p:spPr>
        <p:txBody>
          <a:bodyPr>
            <a:normAutofit fontScale="90000"/>
          </a:bodyPr>
          <a:lstStyle/>
          <a:p>
            <a:r>
              <a:rPr lang="nl-NL" dirty="0"/>
              <a:t>Dit hoor jij niet te zien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805495B-DDAE-B9ED-3C09-2D645D513108}"/>
              </a:ext>
            </a:extLst>
          </p:cNvPr>
          <p:cNvSpPr txBox="1">
            <a:spLocks/>
          </p:cNvSpPr>
          <p:nvPr/>
        </p:nvSpPr>
        <p:spPr>
          <a:xfrm>
            <a:off x="3756321" y="2486936"/>
            <a:ext cx="6764210" cy="988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nl-NL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Code Exchange</a:t>
            </a:r>
            <a:r>
              <a:rPr lang="nl-NL" sz="5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™</a:t>
            </a:r>
            <a:endParaRPr lang="nl-NL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8" name="Ondertitel 2">
            <a:extLst>
              <a:ext uri="{FF2B5EF4-FFF2-40B4-BE49-F238E27FC236}">
                <a16:creationId xmlns:a16="http://schemas.microsoft.com/office/drawing/2014/main" id="{47952DC1-1C6E-1BE2-B08D-83DE93211B02}"/>
              </a:ext>
            </a:extLst>
          </p:cNvPr>
          <p:cNvSpPr txBox="1">
            <a:spLocks/>
          </p:cNvSpPr>
          <p:nvPr/>
        </p:nvSpPr>
        <p:spPr>
          <a:xfrm>
            <a:off x="3526234" y="3359719"/>
            <a:ext cx="5459594" cy="4445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Bedankt voor uw aandacht</a:t>
            </a:r>
          </a:p>
        </p:txBody>
      </p:sp>
    </p:spTree>
    <p:extLst>
      <p:ext uri="{BB962C8B-B14F-4D97-AF65-F5344CB8AC3E}">
        <p14:creationId xmlns:p14="http://schemas.microsoft.com/office/powerpoint/2010/main" val="3219286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265</Words>
  <Application>Microsoft Office PowerPoint</Application>
  <PresentationFormat>Breedbeeld</PresentationFormat>
  <Paragraphs>45</Paragraphs>
  <Slides>10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Trebuchet MS</vt:lpstr>
      <vt:lpstr>Kantoorthema</vt:lpstr>
      <vt:lpstr>Code Exchange™</vt:lpstr>
      <vt:lpstr>● Sprint bord Sprint 4 ● TMC-cyclus met resultaat ● Commit geschiedenis ● Sprint bord Sprint 5 ● Demo</vt:lpstr>
      <vt:lpstr>PowerPoint-presentatie</vt:lpstr>
      <vt:lpstr>ada</vt:lpstr>
      <vt:lpstr>ada</vt:lpstr>
      <vt:lpstr>ada</vt:lpstr>
      <vt:lpstr>PowerPoint-presentatie</vt:lpstr>
      <vt:lpstr>PowerPoint-presentatie</vt:lpstr>
      <vt:lpstr> Live demonstratie</vt:lpstr>
      <vt:lpstr>Dit hoor jij niet te zien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Kuiper</dc:creator>
  <cp:lastModifiedBy>David Kuiper</cp:lastModifiedBy>
  <cp:revision>26</cp:revision>
  <dcterms:created xsi:type="dcterms:W3CDTF">2024-12-04T15:22:38Z</dcterms:created>
  <dcterms:modified xsi:type="dcterms:W3CDTF">2024-12-06T14:17:51Z</dcterms:modified>
</cp:coreProperties>
</file>